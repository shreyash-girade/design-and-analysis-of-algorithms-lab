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Epilogue Bold" panose="020B0604020202020204" charset="0"/>
      <p:regular r:id="rId12"/>
    </p:embeddedFont>
    <p:embeddedFont>
      <p:font typeface="Epilogue SemiBold" panose="020B0604020202020204" charset="0"/>
      <p:regular r:id="rId13"/>
    </p:embeddedFont>
    <p:embeddedFont>
      <p:font typeface="Overpass" panose="020B0604020202020204" charset="0"/>
      <p:regular r:id="rId14"/>
    </p:embeddedFont>
    <p:embeddedFont>
      <p:font typeface="Overpass Bold" panose="020B0604020202020204" charset="0"/>
      <p:regular r:id="rId15"/>
    </p:embeddedFont>
    <p:embeddedFont>
      <p:font typeface="Overpass Medium" panose="020B0604020202020204" charset="0"/>
      <p:regular r:id="rId16"/>
    </p:embeddedFont>
    <p:embeddedFont>
      <p:font typeface="Overpass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26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F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F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406400"/>
            <a:ext cx="7619809" cy="6045200"/>
          </a:xfrm>
          <a:prstGeom prst="rect">
            <a:avLst/>
          </a:prstGeom>
          <a:solidFill>
            <a:srgbClr val="23262B"/>
          </a:solidFill>
          <a:ln/>
        </p:spPr>
      </p:sp>
      <p:sp>
        <p:nvSpPr>
          <p:cNvPr id="3" name="Shape 1"/>
          <p:cNvSpPr/>
          <p:nvPr/>
        </p:nvSpPr>
        <p:spPr>
          <a:xfrm>
            <a:off x="685783" y="406400"/>
            <a:ext cx="50799" cy="60452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4" name="Text 2"/>
          <p:cNvSpPr/>
          <p:nvPr/>
        </p:nvSpPr>
        <p:spPr>
          <a:xfrm>
            <a:off x="1015975" y="838200"/>
            <a:ext cx="74420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5975" y="1389360"/>
            <a:ext cx="6832429" cy="122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600" b="1" kern="100" spc="-46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Merge Sort</a:t>
            </a:r>
            <a:endParaRPr lang="en-US" sz="4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600" b="1" kern="100" spc="-46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Algorithm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15975" y="2809776"/>
            <a:ext cx="683242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A Divide and Conquer Approach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015975" y="3331369"/>
            <a:ext cx="1708008" cy="31651"/>
          </a:xfrm>
          <a:prstGeom prst="roundRect">
            <a:avLst>
              <a:gd name="adj" fmla="val 49998"/>
            </a:avLst>
          </a:prstGeom>
          <a:solidFill>
            <a:srgbClr val="F2704F"/>
          </a:solidFill>
          <a:ln/>
        </p:spPr>
      </p:sp>
      <p:sp>
        <p:nvSpPr>
          <p:cNvPr id="8" name="Text 6"/>
          <p:cNvSpPr/>
          <p:nvPr/>
        </p:nvSpPr>
        <p:spPr>
          <a:xfrm>
            <a:off x="1015975" y="3609181"/>
            <a:ext cx="6832429" cy="2285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000000"/>
                </a:highlight>
                <a:latin typeface="Overpass" pitchFamily="34" charset="0"/>
                <a:ea typeface="Overpass" pitchFamily="34" charset="-122"/>
                <a:cs typeface="Overpass" pitchFamily="34" charset="-120"/>
              </a:rPr>
              <a:t>Name: Shreyash Girade</a:t>
            </a:r>
            <a:endParaRPr lang="en-US" sz="1700" dirty="0">
              <a:highlight>
                <a:srgbClr val="000000"/>
              </a:highlight>
            </a:endParaRPr>
          </a:p>
          <a:p>
            <a:pPr marL="0" indent="0" algn="l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000000"/>
                </a:highlight>
                <a:latin typeface="Overpass" pitchFamily="34" charset="0"/>
                <a:ea typeface="Overpass" pitchFamily="34" charset="-122"/>
                <a:cs typeface="Overpass" pitchFamily="34" charset="-120"/>
              </a:rPr>
              <a:t>PRN: 25070521171</a:t>
            </a:r>
            <a:endParaRPr lang="en-US" sz="1700" dirty="0">
              <a:highlight>
                <a:srgbClr val="000000"/>
              </a:highlight>
            </a:endParaRPr>
          </a:p>
          <a:p>
            <a:pPr marL="0" indent="0" algn="l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000000"/>
                </a:highlight>
                <a:latin typeface="Overpass" pitchFamily="34" charset="0"/>
                <a:ea typeface="Overpass" pitchFamily="34" charset="-122"/>
                <a:cs typeface="Overpass" pitchFamily="34" charset="-120"/>
              </a:rPr>
              <a:t>B.Tech CSE</a:t>
            </a:r>
            <a:endParaRPr lang="en-US" sz="1700" dirty="0">
              <a:highlight>
                <a:srgbClr val="000000"/>
              </a:highlight>
            </a:endParaRPr>
          </a:p>
          <a:p>
            <a:pPr marL="0" indent="0" algn="l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000000"/>
                </a:highlight>
                <a:latin typeface="Overpass" pitchFamily="34" charset="0"/>
                <a:ea typeface="Overpass" pitchFamily="34" charset="-122"/>
                <a:cs typeface="Overpass" pitchFamily="34" charset="-120"/>
              </a:rPr>
              <a:t>Design and Analysis of Algorithms</a:t>
            </a:r>
            <a:endParaRPr lang="en-US" sz="1700" dirty="0">
              <a:highlight>
                <a:srgbClr val="000000"/>
              </a:highlight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000000"/>
                </a:highlight>
                <a:latin typeface="Overpass" pitchFamily="34" charset="0"/>
                <a:ea typeface="Overpass" pitchFamily="34" charset="-122"/>
                <a:cs typeface="Overpass" pitchFamily="34" charset="-120"/>
              </a:rPr>
              <a:t>Component 2 – Use of AI</a:t>
            </a:r>
            <a:endParaRPr lang="en-US" sz="1700" dirty="0">
              <a:highlight>
                <a:srgbClr val="000000"/>
              </a:highlight>
            </a:endParaRPr>
          </a:p>
        </p:txBody>
      </p:sp>
      <p:sp>
        <p:nvSpPr>
          <p:cNvPr id="9" name="Text 7"/>
          <p:cNvSpPr/>
          <p:nvPr/>
        </p:nvSpPr>
        <p:spPr>
          <a:xfrm>
            <a:off x="1015975" y="6088658"/>
            <a:ext cx="744201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Generated using Gamma AI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700" y="0"/>
            <a:ext cx="2438339" cy="6858000"/>
          </a:xfrm>
          <a:prstGeom prst="rect">
            <a:avLst/>
          </a:prstGeom>
          <a:solidFill>
            <a:srgbClr val="23262B"/>
          </a:solidFill>
          <a:ln/>
        </p:spPr>
      </p:sp>
      <p:sp>
        <p:nvSpPr>
          <p:cNvPr id="4" name="Text 2"/>
          <p:cNvSpPr/>
          <p:nvPr/>
        </p:nvSpPr>
        <p:spPr>
          <a:xfrm>
            <a:off x="279393" y="431800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2704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01 · 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5567660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Merge Sort Algorithm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46326" y="431800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23262B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Introduction to Merge Sort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946326" y="1111548"/>
            <a:ext cx="2866457" cy="31651"/>
          </a:xfrm>
          <a:prstGeom prst="roundRect">
            <a:avLst>
              <a:gd name="adj" fmla="val 49998"/>
            </a:avLst>
          </a:prstGeom>
          <a:solidFill>
            <a:srgbClr val="F2704F"/>
          </a:solidFill>
          <a:ln/>
        </p:spPr>
      </p:sp>
      <p:sp>
        <p:nvSpPr>
          <p:cNvPr id="8" name="Text 6"/>
          <p:cNvSpPr/>
          <p:nvPr/>
        </p:nvSpPr>
        <p:spPr>
          <a:xfrm>
            <a:off x="2946326" y="1389360"/>
            <a:ext cx="8686583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Merge Sort is a comparison-based sorting algorithm.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It follows the Divide and Conquer technique.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It divides an array into smaller subarrays.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Each subarray is recursively sorted.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sorted subarrays are then merged.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46326" y="3243362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749" y="3357662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46326" y="3759994"/>
            <a:ext cx="1493403" cy="12601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12" name="Text 10"/>
          <p:cNvSpPr/>
          <p:nvPr/>
        </p:nvSpPr>
        <p:spPr>
          <a:xfrm>
            <a:off x="2946326" y="3923506"/>
            <a:ext cx="1493502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Unsorted Array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44522" y="3243362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2944" y="3357662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44522" y="3759994"/>
            <a:ext cx="1493403" cy="12601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16" name="Text 14"/>
          <p:cNvSpPr/>
          <p:nvPr/>
        </p:nvSpPr>
        <p:spPr>
          <a:xfrm>
            <a:off x="4744522" y="3923506"/>
            <a:ext cx="149350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Divide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42718" y="3243362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1140" y="3357662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42718" y="3759994"/>
            <a:ext cx="1493701" cy="12601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0" name="Text 18"/>
          <p:cNvSpPr/>
          <p:nvPr/>
        </p:nvSpPr>
        <p:spPr>
          <a:xfrm>
            <a:off x="6542718" y="3923506"/>
            <a:ext cx="149370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Sort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341112" y="3243362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9534" y="3357662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41112" y="3759994"/>
            <a:ext cx="1493403" cy="12601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4" name="Text 22"/>
          <p:cNvSpPr/>
          <p:nvPr/>
        </p:nvSpPr>
        <p:spPr>
          <a:xfrm>
            <a:off x="8341112" y="3923506"/>
            <a:ext cx="149350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Merge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0139307" y="3243362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37730" y="3357662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139307" y="3759994"/>
            <a:ext cx="1493502" cy="12601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39307" y="3923506"/>
            <a:ext cx="149360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Sorted Array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946326" y="4678363"/>
            <a:ext cx="924536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kern="100" spc="12" dirty="0">
                <a:solidFill>
                  <a:srgbClr val="555B63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Visual flow: Unsorted Array → Divide → Sort → Merge → Sorted Array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31" name="Text 29"/>
          <p:cNvSpPr/>
          <p:nvPr/>
        </p:nvSpPr>
        <p:spPr>
          <a:xfrm>
            <a:off x="609585" y="6446540"/>
            <a:ext cx="11476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F2704F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23262B"/>
          </a:solidFill>
          <a:ln/>
        </p:spPr>
      </p:sp>
      <p:sp>
        <p:nvSpPr>
          <p:cNvPr id="4" name="Text 2"/>
          <p:cNvSpPr/>
          <p:nvPr/>
        </p:nvSpPr>
        <p:spPr>
          <a:xfrm>
            <a:off x="279393" y="431800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2704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02 · CORE STRATEGY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5915025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Three stages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46326" y="431800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23262B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Divide and Conquer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946326" y="1111548"/>
            <a:ext cx="2866457" cy="31651"/>
          </a:xfrm>
          <a:prstGeom prst="roundRect">
            <a:avLst>
              <a:gd name="adj" fmla="val 49998"/>
            </a:avLst>
          </a:prstGeom>
          <a:solidFill>
            <a:srgbClr val="F2704F"/>
          </a:solidFill>
          <a:ln/>
        </p:spPr>
      </p:sp>
      <p:sp>
        <p:nvSpPr>
          <p:cNvPr id="8" name="Text 6"/>
          <p:cNvSpPr/>
          <p:nvPr/>
        </p:nvSpPr>
        <p:spPr>
          <a:xfrm>
            <a:off x="2946326" y="1389360"/>
            <a:ext cx="8686583" cy="1014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700" b="1" dirty="0">
                <a:solidFill>
                  <a:srgbClr val="1F2226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Divide:</a:t>
            </a: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Split the array into two approximately equal halves.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1F2226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Conquer:</a:t>
            </a: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Recursively sort each half.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1F2226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Combine:</a:t>
            </a: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Merge the sorted halves.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46326" y="2530971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749" y="2645271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46326" y="3115171"/>
            <a:ext cx="278123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Divide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46326" y="3479602"/>
            <a:ext cx="27812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Split the array into two approximately equal halves.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45049" y="2530971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3471" y="2645271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45049" y="3115171"/>
            <a:ext cx="257803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Conquer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045049" y="3479602"/>
            <a:ext cx="26923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Recursively sort each half.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40576" y="2530971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8999" y="2645271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40576" y="3115171"/>
            <a:ext cx="269233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Combine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940576" y="3479602"/>
            <a:ext cx="26923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Merge the sorted halves.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46326" y="5781675"/>
            <a:ext cx="924536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kern="100" spc="12" dirty="0">
                <a:solidFill>
                  <a:srgbClr val="555B63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Show the three stages as a clear left-to-right diagram.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3" name="Shape 21"/>
          <p:cNvSpPr/>
          <p:nvPr/>
        </p:nvSpPr>
        <p:spPr>
          <a:xfrm>
            <a:off x="5835504" y="2530971"/>
            <a:ext cx="12700" cy="3057029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4" name="Shape 22"/>
          <p:cNvSpPr/>
          <p:nvPr/>
        </p:nvSpPr>
        <p:spPr>
          <a:xfrm>
            <a:off x="8731032" y="2530971"/>
            <a:ext cx="12700" cy="3057029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5" name="Text 23"/>
          <p:cNvSpPr/>
          <p:nvPr/>
        </p:nvSpPr>
        <p:spPr>
          <a:xfrm>
            <a:off x="609585" y="6446540"/>
            <a:ext cx="11476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F2704F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23262B"/>
          </a:solidFill>
          <a:ln/>
        </p:spPr>
      </p:sp>
      <p:sp>
        <p:nvSpPr>
          <p:cNvPr id="4" name="Text 2"/>
          <p:cNvSpPr/>
          <p:nvPr/>
        </p:nvSpPr>
        <p:spPr>
          <a:xfrm>
            <a:off x="279393" y="431800"/>
            <a:ext cx="1930352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2704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03 · RECURSIVE DECOMPOSITION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5788025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Split until one element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46326" y="431800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23262B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How Merge Sort Works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946326" y="1059160"/>
            <a:ext cx="92453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 the example [38, 12, 27, 43, 9, 31, 18, 25].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946326" y="1629073"/>
            <a:ext cx="2866457" cy="31651"/>
          </a:xfrm>
          <a:prstGeom prst="roundRect">
            <a:avLst>
              <a:gd name="adj" fmla="val 49998"/>
            </a:avLst>
          </a:prstGeom>
          <a:solidFill>
            <a:srgbClr val="F2704F"/>
          </a:solidFill>
          <a:ln/>
        </p:spPr>
      </p:sp>
      <p:sp>
        <p:nvSpPr>
          <p:cNvPr id="9" name="Shape 7"/>
          <p:cNvSpPr/>
          <p:nvPr/>
        </p:nvSpPr>
        <p:spPr>
          <a:xfrm>
            <a:off x="2946326" y="1906885"/>
            <a:ext cx="2895528" cy="1447800"/>
          </a:xfrm>
          <a:custGeom>
            <a:avLst/>
            <a:gdLst/>
            <a:ahLst/>
            <a:cxnLst/>
            <a:rect l="l" t="t" r="r" b="b"/>
            <a:pathLst>
              <a:path w="2895528" h="1447800">
                <a:moveTo>
                  <a:pt x="9525" y="0"/>
                </a:moveTo>
                <a:lnTo>
                  <a:pt x="2895528" y="0"/>
                </a:lnTo>
                <a:lnTo>
                  <a:pt x="2895528" y="1447800"/>
                </a:lnTo>
                <a:lnTo>
                  <a:pt x="9525" y="1447800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E1E6EA"/>
          </a:solidFill>
          <a:ln/>
        </p:spPr>
      </p:sp>
      <p:sp>
        <p:nvSpPr>
          <p:cNvPr id="10" name="Text 8"/>
          <p:cNvSpPr/>
          <p:nvPr/>
        </p:nvSpPr>
        <p:spPr>
          <a:xfrm>
            <a:off x="3149521" y="2110085"/>
            <a:ext cx="26923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kern="100" spc="168" dirty="0">
                <a:solidFill>
                  <a:srgbClr val="1F2226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LEVEL 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49521" y="2465685"/>
            <a:ext cx="2489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[38,12,27,43]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[9,31,18,25]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41854" y="1906885"/>
            <a:ext cx="2895528" cy="1447800"/>
          </a:xfrm>
          <a:prstGeom prst="rect">
            <a:avLst/>
          </a:prstGeom>
          <a:solidFill>
            <a:srgbClr val="E1E6EA"/>
          </a:solidFill>
          <a:ln/>
        </p:spPr>
      </p:sp>
      <p:sp>
        <p:nvSpPr>
          <p:cNvPr id="13" name="Text 11"/>
          <p:cNvSpPr/>
          <p:nvPr/>
        </p:nvSpPr>
        <p:spPr>
          <a:xfrm>
            <a:off x="6045049" y="2110085"/>
            <a:ext cx="26923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kern="100" spc="168" dirty="0">
                <a:solidFill>
                  <a:srgbClr val="1F2226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LEVEL 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45049" y="2465685"/>
            <a:ext cx="2489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[38,12] [27,43]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[9,31] [18,25]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737381" y="1906885"/>
            <a:ext cx="2895528" cy="1447800"/>
          </a:xfrm>
          <a:custGeom>
            <a:avLst/>
            <a:gdLst/>
            <a:ahLst/>
            <a:cxnLst/>
            <a:rect l="l" t="t" r="r" b="b"/>
            <a:pathLst>
              <a:path w="2895528" h="1447800">
                <a:moveTo>
                  <a:pt x="0" y="0"/>
                </a:moveTo>
                <a:lnTo>
                  <a:pt x="2886003" y="0"/>
                </a:lnTo>
                <a:arcTo wR="9525" hR="9525" stAng="16200000" swAng="5400000"/>
                <a:lnTo>
                  <a:pt x="2895528" y="1438275"/>
                </a:lnTo>
                <a:arcTo wR="9525" hR="9525" stAng="0" swAng="5400000"/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/>
        </p:spPr>
      </p:sp>
      <p:sp>
        <p:nvSpPr>
          <p:cNvPr id="16" name="Text 14"/>
          <p:cNvSpPr/>
          <p:nvPr/>
        </p:nvSpPr>
        <p:spPr>
          <a:xfrm>
            <a:off x="8940576" y="2110085"/>
            <a:ext cx="26923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kern="100" spc="168" dirty="0">
                <a:solidFill>
                  <a:srgbClr val="1F2226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LEVEL 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40576" y="2465685"/>
            <a:ext cx="2489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individual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elements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46326" y="3548360"/>
            <a:ext cx="8686583" cy="6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500"/>
              </a:spcAft>
              <a:buNone/>
            </a:pPr>
            <a:r>
              <a:rPr lang="en-US" sz="1250" kern="100" spc="12" dirty="0">
                <a:solidFill>
                  <a:srgbClr val="555B63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Show the splitting process: [38,12,27,43] [9,31,18,25] → [38,12] [27,43] [9,31] [18,25] → individual elements.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kern="100" spc="12" dirty="0">
                <a:solidFill>
                  <a:srgbClr val="555B63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Show that the array is divided until each subarray contains one element.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0" name="Shape 18"/>
          <p:cNvSpPr/>
          <p:nvPr/>
        </p:nvSpPr>
        <p:spPr>
          <a:xfrm>
            <a:off x="5835504" y="1906885"/>
            <a:ext cx="12700" cy="14478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1" name="Shape 19"/>
          <p:cNvSpPr/>
          <p:nvPr/>
        </p:nvSpPr>
        <p:spPr>
          <a:xfrm>
            <a:off x="8731032" y="1906885"/>
            <a:ext cx="12700" cy="14478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2" name="Text 20"/>
          <p:cNvSpPr/>
          <p:nvPr/>
        </p:nvSpPr>
        <p:spPr>
          <a:xfrm>
            <a:off x="609585" y="6446540"/>
            <a:ext cx="11476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F2704F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0" y="0"/>
            <a:ext cx="2438339" cy="6858000"/>
          </a:xfrm>
          <a:prstGeom prst="rect">
            <a:avLst/>
          </a:prstGeom>
          <a:solidFill>
            <a:srgbClr val="2326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69561" y="271661"/>
            <a:ext cx="2158946" cy="308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2704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04 · COMBINE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484179"/>
            <a:ext cx="2158946" cy="21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Compare, select, append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46326" y="431800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23262B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Merging Process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946326" y="1111548"/>
            <a:ext cx="2866457" cy="31651"/>
          </a:xfrm>
          <a:prstGeom prst="roundRect">
            <a:avLst>
              <a:gd name="adj" fmla="val 49998"/>
            </a:avLst>
          </a:prstGeom>
          <a:solidFill>
            <a:srgbClr val="F2704F"/>
          </a:solidFill>
          <a:ln/>
        </p:spPr>
      </p:sp>
      <p:sp>
        <p:nvSpPr>
          <p:cNvPr id="8" name="Text 6"/>
          <p:cNvSpPr/>
          <p:nvPr/>
        </p:nvSpPr>
        <p:spPr>
          <a:xfrm>
            <a:off x="2946326" y="1563985"/>
            <a:ext cx="8686583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38" dirty="0">
                <a:solidFill>
                  <a:srgbClr val="23262B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[12, 38] + [27, 43]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946326" y="2286595"/>
            <a:ext cx="924536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Merge the sorted arrays [12, 38] + [27, 43].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946326" y="2782491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749" y="2896791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46326" y="3366691"/>
            <a:ext cx="411469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12 &lt; 27 → take 12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18212" y="2782491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634" y="2896791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18212" y="3366691"/>
            <a:ext cx="411469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27 &lt; 38 → take 27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6326" y="4104481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749" y="4218781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46326" y="4688681"/>
            <a:ext cx="411469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38 &lt; 43 → take 38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518212" y="4104481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634" y="4218781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18212" y="4688681"/>
            <a:ext cx="411469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Take remaining 43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946326" y="5121672"/>
            <a:ext cx="9245369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F2226"/>
                </a:solidFill>
                <a:highlight>
                  <a:srgbClr val="5CC97B"/>
                </a:highlight>
                <a:latin typeface="Overpass" pitchFamily="34" charset="0"/>
                <a:ea typeface="Overpass" pitchFamily="34" charset="-122"/>
                <a:cs typeface="Overpass" pitchFamily="34" charset="-120"/>
              </a:rPr>
              <a:t>Result: [12, 27, 38, 43]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4" name="Shape 22"/>
          <p:cNvSpPr/>
          <p:nvPr/>
        </p:nvSpPr>
        <p:spPr>
          <a:xfrm>
            <a:off x="7283268" y="2782491"/>
            <a:ext cx="12700" cy="1093391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5" name="Shape 23"/>
          <p:cNvSpPr/>
          <p:nvPr/>
        </p:nvSpPr>
        <p:spPr>
          <a:xfrm>
            <a:off x="2946326" y="3869531"/>
            <a:ext cx="4343291" cy="127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6" name="Shape 24"/>
          <p:cNvSpPr/>
          <p:nvPr/>
        </p:nvSpPr>
        <p:spPr>
          <a:xfrm>
            <a:off x="7283268" y="3875881"/>
            <a:ext cx="12700" cy="1093391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7" name="Shape 25"/>
          <p:cNvSpPr/>
          <p:nvPr/>
        </p:nvSpPr>
        <p:spPr>
          <a:xfrm>
            <a:off x="7289618" y="3869531"/>
            <a:ext cx="4343291" cy="127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8" name="Text 26"/>
          <p:cNvSpPr/>
          <p:nvPr/>
        </p:nvSpPr>
        <p:spPr>
          <a:xfrm>
            <a:off x="609585" y="6446540"/>
            <a:ext cx="11476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F2704F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E1E6EA"/>
          </a:solidFill>
          <a:ln w="12700">
            <a:solidFill>
              <a:srgbClr val="F270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2891" y="2787948"/>
            <a:ext cx="331461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1F2226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MERGE_SORT(A, LEFT, RIGHT)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42891" y="3056533"/>
            <a:ext cx="2971726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38" dirty="0">
                <a:solidFill>
                  <a:srgbClr val="1F2226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Merge Sort</a:t>
            </a:r>
            <a:endParaRPr lang="en-US" sz="38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38" dirty="0">
                <a:solidFill>
                  <a:srgbClr val="1F2226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Algorithm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697" y="431800"/>
            <a:ext cx="751821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23262B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MERGE_SORT(A, left, right)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697" y="1111548"/>
            <a:ext cx="2480903" cy="31651"/>
          </a:xfrm>
          <a:prstGeom prst="roundRect">
            <a:avLst>
              <a:gd name="adj" fmla="val 49998"/>
            </a:avLst>
          </a:prstGeom>
          <a:solidFill>
            <a:srgbClr val="F2704F"/>
          </a:solidFill>
          <a:ln/>
        </p:spPr>
      </p:sp>
      <p:sp>
        <p:nvSpPr>
          <p:cNvPr id="7" name="Text 5"/>
          <p:cNvSpPr/>
          <p:nvPr/>
        </p:nvSpPr>
        <p:spPr>
          <a:xfrm>
            <a:off x="4114697" y="1389360"/>
            <a:ext cx="7518212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If left &lt; right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Find middle = (left + right) / 2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Apply Merge Sort to the left half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Apply Merge Sort to the right half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Merge the two sorted halves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697" y="3362424"/>
            <a:ext cx="7518113" cy="31651"/>
          </a:xfrm>
          <a:prstGeom prst="roundRect">
            <a:avLst>
              <a:gd name="adj" fmla="val 49998"/>
            </a:avLst>
          </a:prstGeom>
          <a:solidFill>
            <a:srgbClr val="555B63"/>
          </a:solidFill>
          <a:ln/>
        </p:spPr>
      </p:sp>
      <p:sp>
        <p:nvSpPr>
          <p:cNvPr id="9" name="Text 7"/>
          <p:cNvSpPr/>
          <p:nvPr/>
        </p:nvSpPr>
        <p:spPr>
          <a:xfrm>
            <a:off x="4114697" y="3640237"/>
            <a:ext cx="807699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F2226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Base case:</a:t>
            </a: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When the subarray contains one element, it is already sorted.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1159" y="0"/>
            <a:ext cx="12700" cy="68580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11" name="Text 9"/>
          <p:cNvSpPr/>
          <p:nvPr/>
        </p:nvSpPr>
        <p:spPr>
          <a:xfrm>
            <a:off x="609585" y="6446540"/>
            <a:ext cx="11476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F2704F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23262B"/>
          </a:solidFill>
          <a:ln/>
        </p:spPr>
      </p:sp>
      <p:sp>
        <p:nvSpPr>
          <p:cNvPr id="4" name="Text 2"/>
          <p:cNvSpPr/>
          <p:nvPr/>
        </p:nvSpPr>
        <p:spPr>
          <a:xfrm>
            <a:off x="279393" y="431800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2704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05 ·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614661"/>
            <a:ext cx="2158946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Recursive structure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46326" y="431800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23262B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Recursion and Recurrence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946326" y="1111548"/>
            <a:ext cx="2866457" cy="31651"/>
          </a:xfrm>
          <a:prstGeom prst="roundRect">
            <a:avLst>
              <a:gd name="adj" fmla="val 49998"/>
            </a:avLst>
          </a:prstGeom>
          <a:solidFill>
            <a:srgbClr val="F2704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326" y="1617960"/>
            <a:ext cx="4114697" cy="3716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46326" y="2116634"/>
            <a:ext cx="411469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2T(n/2): sorting two halves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O(n): merging the two halves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946326" y="2902049"/>
            <a:ext cx="4114697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Resulting time complexity: T(n) = O(n log n)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18212" y="1389360"/>
            <a:ext cx="4114697" cy="4935240"/>
          </a:xfrm>
          <a:prstGeom prst="rect">
            <a:avLst/>
          </a:prstGeom>
          <a:solidFill>
            <a:srgbClr val="E1E6EA"/>
          </a:solidFill>
          <a:ln w="12700">
            <a:solidFill>
              <a:srgbClr val="F270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9506" y="2596852"/>
            <a:ext cx="387340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Show a simple recursion tree or division diagram.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59506" y="2930227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57928" y="3044527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59506" y="3514427"/>
            <a:ext cx="158746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Split n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9804155" y="2930227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02577" y="3044527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804155" y="3514427"/>
            <a:ext cx="158746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Two halves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759506" y="4252218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57928" y="4366518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59506" y="4836418"/>
            <a:ext cx="158746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Repeat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804155" y="4252218"/>
            <a:ext cx="431789" cy="431800"/>
          </a:xfrm>
          <a:prstGeom prst="ellipse">
            <a:avLst/>
          </a:prstGeom>
          <a:noFill/>
          <a:ln w="19050">
            <a:solidFill>
              <a:srgbClr val="A834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902577" y="4366518"/>
            <a:ext cx="84452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3262B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804155" y="4836418"/>
            <a:ext cx="158746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Base case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6" name="Shape 23"/>
          <p:cNvSpPr/>
          <p:nvPr/>
        </p:nvSpPr>
        <p:spPr>
          <a:xfrm>
            <a:off x="9569211" y="2930227"/>
            <a:ext cx="12700" cy="1093391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7" name="Shape 24"/>
          <p:cNvSpPr/>
          <p:nvPr/>
        </p:nvSpPr>
        <p:spPr>
          <a:xfrm>
            <a:off x="7759506" y="4017268"/>
            <a:ext cx="1816055" cy="127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8" name="Shape 25"/>
          <p:cNvSpPr/>
          <p:nvPr/>
        </p:nvSpPr>
        <p:spPr>
          <a:xfrm>
            <a:off x="9569211" y="4023618"/>
            <a:ext cx="12700" cy="1093391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9" name="Shape 26"/>
          <p:cNvSpPr/>
          <p:nvPr/>
        </p:nvSpPr>
        <p:spPr>
          <a:xfrm>
            <a:off x="9575560" y="4017268"/>
            <a:ext cx="1816055" cy="127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30" name="Text 27"/>
          <p:cNvSpPr/>
          <p:nvPr/>
        </p:nvSpPr>
        <p:spPr>
          <a:xfrm>
            <a:off x="609585" y="6446540"/>
            <a:ext cx="11476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F2704F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23262B"/>
          </a:solidFill>
          <a:ln/>
        </p:spPr>
      </p:sp>
      <p:sp>
        <p:nvSpPr>
          <p:cNvPr id="4" name="Text 2"/>
          <p:cNvSpPr/>
          <p:nvPr/>
        </p:nvSpPr>
        <p:spPr>
          <a:xfrm>
            <a:off x="279393" y="431800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2704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06 · PERFORMANCE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703560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Complexity ledger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46326" y="431800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23262B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Time and Space Complexity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946326" y="1111548"/>
            <a:ext cx="2866457" cy="31651"/>
          </a:xfrm>
          <a:prstGeom prst="roundRect">
            <a:avLst>
              <a:gd name="adj" fmla="val 49998"/>
            </a:avLst>
          </a:prstGeom>
          <a:solidFill>
            <a:srgbClr val="F2704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46326" y="1389360"/>
          <a:ext cx="4139998" cy="2619311"/>
        </p:xfrm>
        <a:graphic>
          <a:graphicData uri="http://schemas.openxmlformats.org/drawingml/2006/table">
            <a:tbl>
              <a:tblPr/>
              <a:tblGrid>
                <a:gridCol w="1860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100" spc="135" dirty="0">
                          <a:solidFill>
                            <a:srgbClr val="23262B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CASE</a:t>
                      </a:r>
                      <a:endParaRPr lang="en-US" sz="135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100" spc="135" dirty="0">
                          <a:solidFill>
                            <a:srgbClr val="23262B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COMPLEXITY</a:t>
                      </a:r>
                      <a:endParaRPr lang="en-US" sz="135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5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226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Best Case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226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O(n log n)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226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Average Case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226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O(n log n)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226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Worst Case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226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O(n log n)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226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Space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226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O(n)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7518212" y="1389360"/>
            <a:ext cx="4114697" cy="137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Best Case: O(n log n)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Average Case: O(n log n)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Worst Case: O(n log n)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Space Complexity: O(n)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18212" y="2887166"/>
            <a:ext cx="4114697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Merging takes O(n) time at each level, and there are O(log n) levels.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12" name="Text 9"/>
          <p:cNvSpPr/>
          <p:nvPr/>
        </p:nvSpPr>
        <p:spPr>
          <a:xfrm>
            <a:off x="609585" y="6446540"/>
            <a:ext cx="11476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F2704F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23262B"/>
          </a:solidFill>
          <a:ln/>
        </p:spPr>
      </p:sp>
      <p:sp>
        <p:nvSpPr>
          <p:cNvPr id="4" name="Text 2"/>
          <p:cNvSpPr/>
          <p:nvPr/>
        </p:nvSpPr>
        <p:spPr>
          <a:xfrm>
            <a:off x="279393" y="431800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2704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07 ·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5059660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When to use it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46326" y="431800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23262B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Advantages, Disadvantages and Applications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946326" y="1111548"/>
            <a:ext cx="2866457" cy="31651"/>
          </a:xfrm>
          <a:prstGeom prst="roundRect">
            <a:avLst>
              <a:gd name="adj" fmla="val 49998"/>
            </a:avLst>
          </a:prstGeom>
          <a:solidFill>
            <a:srgbClr val="F2704F"/>
          </a:solidFill>
          <a:ln/>
        </p:spPr>
      </p:sp>
      <p:sp>
        <p:nvSpPr>
          <p:cNvPr id="8" name="Shape 6"/>
          <p:cNvSpPr/>
          <p:nvPr/>
        </p:nvSpPr>
        <p:spPr>
          <a:xfrm>
            <a:off x="2946326" y="1389360"/>
            <a:ext cx="2895528" cy="4935240"/>
          </a:xfrm>
          <a:custGeom>
            <a:avLst/>
            <a:gdLst/>
            <a:ahLst/>
            <a:cxnLst/>
            <a:rect l="l" t="t" r="r" b="b"/>
            <a:pathLst>
              <a:path w="2895528" h="4935240">
                <a:moveTo>
                  <a:pt x="9525" y="0"/>
                </a:moveTo>
                <a:lnTo>
                  <a:pt x="2895528" y="0"/>
                </a:lnTo>
                <a:lnTo>
                  <a:pt x="2895528" y="4935240"/>
                </a:lnTo>
                <a:lnTo>
                  <a:pt x="9525" y="4935240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E1E6EA"/>
          </a:solidFill>
          <a:ln/>
        </p:spPr>
      </p:sp>
      <p:sp>
        <p:nvSpPr>
          <p:cNvPr id="9" name="Text 7"/>
          <p:cNvSpPr/>
          <p:nvPr/>
        </p:nvSpPr>
        <p:spPr>
          <a:xfrm>
            <a:off x="3174921" y="1617960"/>
            <a:ext cx="243833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74921" y="2054126"/>
            <a:ext cx="2438339" cy="257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Guaranteed O(n log n) time complexity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Stable sorting algorithm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Effective for large datasets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Suitable for external sorting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841854" y="1389360"/>
            <a:ext cx="2895528" cy="4935240"/>
          </a:xfrm>
          <a:prstGeom prst="rect">
            <a:avLst/>
          </a:prstGeom>
          <a:solidFill>
            <a:srgbClr val="E1E6EA"/>
          </a:solidFill>
          <a:ln/>
        </p:spPr>
      </p:sp>
      <p:sp>
        <p:nvSpPr>
          <p:cNvPr id="12" name="Text 10"/>
          <p:cNvSpPr/>
          <p:nvPr/>
        </p:nvSpPr>
        <p:spPr>
          <a:xfrm>
            <a:off x="6070448" y="1617960"/>
            <a:ext cx="243833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Disadvantages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70448" y="2054126"/>
            <a:ext cx="2438339" cy="156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Requires additional memory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Not always as fast as Quick Sort for in-memory arrays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737381" y="1389360"/>
            <a:ext cx="2895528" cy="4935240"/>
          </a:xfrm>
          <a:custGeom>
            <a:avLst/>
            <a:gdLst/>
            <a:ahLst/>
            <a:cxnLst/>
            <a:rect l="l" t="t" r="r" b="b"/>
            <a:pathLst>
              <a:path w="2895528" h="4935240">
                <a:moveTo>
                  <a:pt x="0" y="0"/>
                </a:moveTo>
                <a:lnTo>
                  <a:pt x="2886003" y="0"/>
                </a:lnTo>
                <a:arcTo wR="9525" hR="9525" stAng="16200000" swAng="5400000"/>
                <a:lnTo>
                  <a:pt x="2895528" y="4925715"/>
                </a:lnTo>
                <a:arcTo wR="9525" hR="9525" stAng="0" swAng="5400000"/>
                <a:lnTo>
                  <a:pt x="0" y="4935240"/>
                </a:lnTo>
                <a:lnTo>
                  <a:pt x="0" y="0"/>
                </a:lnTo>
                <a:close/>
              </a:path>
            </a:pathLst>
          </a:custGeom>
          <a:solidFill>
            <a:srgbClr val="E1E6EA"/>
          </a:solidFill>
          <a:ln/>
        </p:spPr>
      </p:sp>
      <p:sp>
        <p:nvSpPr>
          <p:cNvPr id="15" name="Text 13"/>
          <p:cNvSpPr/>
          <p:nvPr/>
        </p:nvSpPr>
        <p:spPr>
          <a:xfrm>
            <a:off x="8965976" y="1617960"/>
            <a:ext cx="243833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F2226"/>
                </a:solidFill>
                <a:latin typeface="Overpass Medium" pitchFamily="34" charset="0"/>
                <a:ea typeface="Overpass Medium" pitchFamily="34" charset="-122"/>
                <a:cs typeface="Overpass Medium" pitchFamily="34" charset="-120"/>
              </a:rPr>
              <a:t>Applications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5976" y="2054126"/>
            <a:ext cx="2438339" cy="167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External sorting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Large datasets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Sorting linked lists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22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Database and file processing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5835504" y="1389360"/>
            <a:ext cx="12700" cy="493524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1032" y="1389360"/>
            <a:ext cx="12700" cy="4935240"/>
          </a:xfrm>
          <a:prstGeom prst="rect">
            <a:avLst/>
          </a:prstGeom>
          <a:solidFill>
            <a:srgbClr val="F2704F"/>
          </a:solidFill>
          <a:ln/>
        </p:spPr>
      </p:sp>
      <p:sp>
        <p:nvSpPr>
          <p:cNvPr id="20" name="Text 18"/>
          <p:cNvSpPr/>
          <p:nvPr/>
        </p:nvSpPr>
        <p:spPr>
          <a:xfrm>
            <a:off x="609585" y="6446540"/>
            <a:ext cx="11476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F2704F"/>
                </a:solidFill>
                <a:latin typeface="Epilogue SemiBold" pitchFamily="34" charset="0"/>
                <a:ea typeface="Epilogue SemiBold" pitchFamily="34" charset="-122"/>
                <a:cs typeface="Epilogue SemiBold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665</Words>
  <Application>Microsoft Office PowerPoint</Application>
  <PresentationFormat>Widescreen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Overpass Medium</vt:lpstr>
      <vt:lpstr>Overpass</vt:lpstr>
      <vt:lpstr>Epilogue SemiBold</vt:lpstr>
      <vt:lpstr>Overpass Bold</vt:lpstr>
      <vt:lpstr>Overpass SemiBold</vt:lpstr>
      <vt:lpstr>Epilogue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Shravani Girde</dc:creator>
  <cp:lastModifiedBy>Shravani Girde</cp:lastModifiedBy>
  <cp:revision>9</cp:revision>
  <dcterms:created xsi:type="dcterms:W3CDTF">2026-10-06T16:12:21Z</dcterms:created>
  <dcterms:modified xsi:type="dcterms:W3CDTF">2026-10-16T05:35:05Z</dcterms:modified>
</cp:coreProperties>
</file>